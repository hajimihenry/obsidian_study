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0" r:id="rId3"/>
    <p:sldId id="389" r:id="rId4"/>
    <p:sldId id="413" r:id="rId6"/>
    <p:sldId id="390" r:id="rId7"/>
    <p:sldId id="391" r:id="rId8"/>
    <p:sldId id="414" r:id="rId9"/>
    <p:sldId id="392" r:id="rId10"/>
    <p:sldId id="454" r:id="rId11"/>
    <p:sldId id="453" r:id="rId12"/>
    <p:sldId id="393" r:id="rId13"/>
    <p:sldId id="448" r:id="rId14"/>
    <p:sldId id="394" r:id="rId15"/>
    <p:sldId id="415" r:id="rId16"/>
    <p:sldId id="403" r:id="rId17"/>
    <p:sldId id="395" r:id="rId18"/>
    <p:sldId id="396" r:id="rId19"/>
    <p:sldId id="416" r:id="rId20"/>
    <p:sldId id="469" r:id="rId21"/>
    <p:sldId id="458" r:id="rId22"/>
    <p:sldId id="468" r:id="rId23"/>
    <p:sldId id="489" r:id="rId24"/>
    <p:sldId id="490" r:id="rId25"/>
    <p:sldId id="491" r:id="rId26"/>
    <p:sldId id="399" r:id="rId27"/>
    <p:sldId id="420" r:id="rId28"/>
    <p:sldId id="461" r:id="rId29"/>
    <p:sldId id="464" r:id="rId30"/>
    <p:sldId id="462" r:id="rId31"/>
    <p:sldId id="463" r:id="rId32"/>
    <p:sldId id="492" r:id="rId33"/>
    <p:sldId id="467" r:id="rId34"/>
    <p:sldId id="450" r:id="rId35"/>
    <p:sldId id="451" r:id="rId36"/>
    <p:sldId id="452" r:id="rId37"/>
    <p:sldId id="455" r:id="rId38"/>
    <p:sldId id="456" r:id="rId39"/>
    <p:sldId id="457" r:id="rId40"/>
    <p:sldId id="466" r:id="rId41"/>
  </p:sldIdLst>
  <p:sldSz cx="12192000" cy="6858000"/>
  <p:notesSz cx="6858000" cy="9144000"/>
  <p:custDataLst>
    <p:tags r:id="rId45"/>
  </p:custDataLst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00"/>
    <a:srgbClr val="FF3300"/>
    <a:srgbClr val="00CC00"/>
    <a:srgbClr val="FF66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96" y="5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F413A4-DA83-40F6-8620-41B61D691A6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457200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7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8"/>
          <p:cNvCxnSpPr/>
          <p:nvPr/>
        </p:nvCxnSpPr>
        <p:spPr>
          <a:xfrm>
            <a:off x="1208088" y="4343400"/>
            <a:ext cx="98758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7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8"/>
          <p:cNvCxnSpPr/>
          <p:nvPr/>
        </p:nvCxnSpPr>
        <p:spPr>
          <a:xfrm>
            <a:off x="1208088" y="4343400"/>
            <a:ext cx="98758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5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8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2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altLang="zh-CN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8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vert="horz" wrap="square" lIns="457200" tIns="457200" rIns="0" bIns="45720" numCol="1" rtlCol="0" anchor="t" anchorCtr="0" compatLnSpc="1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7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63" y="1846263"/>
            <a:ext cx="10058400" cy="4022725"/>
          </a:xfrm>
          <a:prstGeom prst="rect">
            <a:avLst/>
          </a:prstGeom>
          <a:noFill/>
          <a:ln w="9525">
            <a:noFill/>
          </a:ln>
        </p:spPr>
        <p:txBody>
          <a:bodyPr lIns="0" rIns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</a:rPr>
            </a:fld>
            <a:endParaRPr lang="en-US" altLang="zh-CN" dirty="0">
              <a:latin typeface="Calibri" panose="020F05020202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7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7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7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7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7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7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7" accel="100000" fill="hold">
                                          <p:stCondLst>
                                            <p:cond delay="89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897" decel="100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97" accel="100000" fill="hold">
                          <p:stCondLst>
                            <p:cond delay="897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805" indent="-90805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90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705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218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96963" y="758825"/>
            <a:ext cx="10058400" cy="35655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-5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第六章  集合代数</a:t>
            </a:r>
            <a:endParaRPr kumimoji="0" lang="zh-CN" altLang="en-US" sz="4800" b="1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00138" y="4456113"/>
            <a:ext cx="10058400" cy="11430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endParaRPr kumimoji="0" lang="zh-CN" altLang="zh-CN" sz="2400" b="0" i="0" u="none" strike="noStrike" kern="1200" cap="all" spc="20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idx="1"/>
          </p:nvPr>
        </p:nvSpPr>
        <p:spPr>
          <a:xfrm>
            <a:off x="671513" y="188913"/>
            <a:ext cx="11520487" cy="6196012"/>
          </a:xfrm>
        </p:spPr>
        <p:txBody>
          <a:bodyPr vert="horz" wrap="square" lIns="0" tIns="45720" rIns="0" bIns="45720" anchor="t" anchorCtr="0"/>
          <a:p>
            <a:pPr marL="609600" indent="-609600" algn="ctr" eaLnBrk="1" hangingPunct="1"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第二部分  集合论（集合代数、二元关系、函数）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    第六章  集合代数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一、集合的基本概念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不可精确定义的概念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、集合定义：具有某种特殊性质的个体的聚合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如： 方程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400" b="1" baseline="300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的实数解集合；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26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个英文字母的集合；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 坐标平面上所有点的集合；   全体中国公民的集合；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 宇宙中的全部星球；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）集合一般用大写字母来标记：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A,B,C</a:t>
            </a:r>
            <a:r>
              <a:rPr lang="en-US" altLang="zh-CN" sz="2400" b="1" dirty="0">
                <a:ea typeface="楷体_GB2312" pitchFamily="49" charset="-122"/>
              </a:rPr>
              <a:t>……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等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）集合的成员或元素，一般用小写字母标记：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a,b,c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..x,y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  3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集合的元素可以属于其他集合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）元素和集合的关系是隶属关系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   元素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属于集合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S        b∈S      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>
          <a:xfrm>
            <a:off x="479425" y="260985"/>
            <a:ext cx="11046460" cy="5904230"/>
          </a:xfrm>
        </p:spPr>
        <p:txBody>
          <a:bodyPr vert="horz" wrap="square" lIns="0" tIns="45720" rIns="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、集合的表示形式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列举法：列出集合的所有元素，元素之间用逗号隔开，并用花括号括起来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注：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）集合的元素是无序的（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7C8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无序性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重复的元素应该认为是一个元素（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7C8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互异性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）集合中的元素可以是一个集合。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）集合的表示不唯一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描述法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谓词表示法）：是用谓词来概括集合中元素的属性，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	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例如：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B={x|x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  <a:sym typeface="+mn-ea"/>
              </a:rPr>
              <a:t>∈R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  <a:sym typeface="+mn-ea"/>
              </a:rPr>
              <a:t>∧ x</a:t>
            </a:r>
            <a:r>
              <a:rPr lang="en-US" altLang="zh-CN" sz="2400" b="1" baseline="30000" dirty="0">
                <a:latin typeface="楷体_GB2312" pitchFamily="49" charset="-122"/>
                <a:ea typeface="楷体_GB2312" pitchFamily="49" charset="-122"/>
                <a:sym typeface="+mn-ea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sym typeface="+mn-ea"/>
              </a:rPr>
              <a:t>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  <a:sym typeface="+mn-ea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sym typeface="+mn-ea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  <a:sym typeface="+mn-ea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、集合的元素个数－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基数。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对于有限集合用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|A|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来表示。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、常用的集合：自然数集合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N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整数集合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，有理数集合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，实数集合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，复数集合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素数集合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idx="1"/>
          </p:nvPr>
        </p:nvSpPr>
        <p:spPr>
          <a:xfrm>
            <a:off x="263525" y="260985"/>
            <a:ext cx="11474450" cy="5952490"/>
          </a:xfrm>
        </p:spPr>
        <p:txBody>
          <a:bodyPr vert="horz" wrap="square" lIns="0" tIns="45720" rIns="0" bIns="45720" anchor="t" anchorCtr="0"/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二、集合之间的关系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、包含关系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为集合，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中的每个元素都是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中的元素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，则称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的子集合，简称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子集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．这时也称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被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包含，或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包含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，记作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B⊆A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B⊆A   ⇔   ∀x ( x ∈ B → x ∈ A )</a:t>
            </a:r>
            <a:endParaRPr lang="en-US" altLang="zh-CN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性质：（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）自反性  显然对任何集合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都有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:A⊆A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．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    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）传递性  若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A⊆ B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且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⊆ C,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A⊆C.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hlinkClick r:id="rId1" action="ppaction://hlinksldjump"/>
              </a:rPr>
              <a:t>谓词表示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隶属关系和包含关系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对于某些集合可以同时成立这两种关系．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812800" indent="-8128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＝｛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a},  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＝｛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a,{a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0771" name="Text Box 3"/>
          <p:cNvSpPr txBox="1"/>
          <p:nvPr/>
        </p:nvSpPr>
        <p:spPr>
          <a:xfrm>
            <a:off x="5951538" y="5013008"/>
            <a:ext cx="4357687" cy="998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∈B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⊆ C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∈ C</a:t>
            </a:r>
            <a:r>
              <a:rPr lang="en-US" altLang="zh-CN" sz="2400" b="1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endParaRPr lang="en-US" altLang="zh-CN" sz="2400" b="1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∈B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⊆ C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⊆ C  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0772" name="Text Box 4"/>
          <p:cNvSpPr txBox="1"/>
          <p:nvPr/>
        </p:nvSpPr>
        <p:spPr>
          <a:xfrm>
            <a:off x="1199198" y="4509135"/>
            <a:ext cx="4283075" cy="1516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例：判断下列问题是否正确：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⊆B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B∈ C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∈ C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⊆B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B∈ C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⊆ C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07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1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0772">
                                            <p:txEl>
                                              <p:charRg st="1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charRg st="3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60772">
                                            <p:txEl>
                                              <p:charRg st="34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0771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0771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0771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idx="1"/>
          </p:nvPr>
        </p:nvSpPr>
        <p:spPr>
          <a:xfrm>
            <a:off x="550863" y="476250"/>
            <a:ext cx="11306175" cy="6481763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、相等关系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为集合，如果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 ⊆ B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且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B⊆ 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，则称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相等，记作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．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相等的符号化表示为：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 &lt;=&gt;  A⊆B ∧ B⊆A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hlinkClick r:id="rId1" action="ppaction://hlinksldjump"/>
              </a:rPr>
              <a:t>证明</a:t>
            </a:r>
            <a:endParaRPr lang="zh-CN" altLang="en-US" sz="2800" b="1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注：判断两个集合的相等应从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相互包含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来证明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、真包含关系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为集合，如果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B⊆A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B≠A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，则称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的真子集，记作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B⊂A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真子集的符号化表示为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⊂ A ⇔  B⊆A ∧ B≠A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5000"/>
              </a:lnSpc>
              <a:spcBef>
                <a:spcPct val="100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        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>
          <a:xfrm>
            <a:off x="622618" y="548640"/>
            <a:ext cx="11233150" cy="6481763"/>
          </a:xfrm>
        </p:spPr>
        <p:txBody>
          <a:bodyPr vert="horz" wrap="square" lIns="0" tIns="45720" rIns="0" bIns="45720" numCol="1" rtlCol="0" anchor="t" anchorCtr="0" compatLnSpc="1">
            <a:normAutofit/>
          </a:bodyPr>
          <a:lstStyle/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、空集 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非常重要的集合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：不含任何元素的集合称为空集，记为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可用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|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x≠x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 表示， 也可表示为  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|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∧ x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+1=0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性质：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|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|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0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空集是任何集合的子集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空集是唯一的 （反证法）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问题：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与｛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｝是什么关系？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可以用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构造含有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个元素的集合吗？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A={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 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{{{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}}}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、全集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      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任何集合看成是全集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的子集，∀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⊆ E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>
            <a:spLocks noGrp="1"/>
          </p:cNvSpPr>
          <p:nvPr>
            <p:ph idx="1"/>
          </p:nvPr>
        </p:nvSpPr>
        <p:spPr>
          <a:xfrm>
            <a:off x="911225" y="765175"/>
            <a:ext cx="3048000" cy="1836738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判断真假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1) a ∈{ {a} 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2){a}∈{ {a} 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2819" name="Rectangle 3"/>
          <p:cNvSpPr/>
          <p:nvPr/>
        </p:nvSpPr>
        <p:spPr>
          <a:xfrm>
            <a:off x="5408930" y="621030"/>
            <a:ext cx="5892800" cy="56165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＝｛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a,{3},4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R={ {a},3,4,1 }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判断真假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1) {a,4,{3}} ⊆ S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2) {a} ⊆ S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3) {a} ∈ R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4) {a} ⊆ R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5) 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∈ R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6) {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}∈ R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7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⊆ {a}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8) 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⊆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{a}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｝⊆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 ⊆E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7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2818">
                                            <p:txEl>
                                              <p:charRg st="7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2818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28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2819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2819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62819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7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62819">
                                            <p:txEl>
                                              <p:charRg st="79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9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62819">
                                            <p:txEl>
                                              <p:charRg st="92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0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2819">
                                            <p:txEl>
                                              <p:charRg st="105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1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62819">
                                            <p:txEl>
                                              <p:charRg st="117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29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62819">
                                            <p:txEl>
                                              <p:charRg st="129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142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62819">
                                            <p:txEl>
                                              <p:charRg st="142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idx="1"/>
          </p:nvPr>
        </p:nvSpPr>
        <p:spPr>
          <a:xfrm>
            <a:off x="695325" y="548640"/>
            <a:ext cx="10514013" cy="6784975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三、集合的幂集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为集合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把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的全体子集构成的集合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叫做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的幂集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记作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P(A)(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幂集的符号化表示为：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P(A)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 x | x ⊆ A 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        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｜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P(A)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｜＝？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注：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、幂集是以子集合为元素的集合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、任何集合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一定有二个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平凡子集 ：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Ø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endParaRPr lang="en-US" altLang="zh-CN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idx="1"/>
          </p:nvPr>
        </p:nvSpPr>
        <p:spPr>
          <a:xfrm>
            <a:off x="982663" y="476250"/>
            <a:ext cx="9434512" cy="6669088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＝｛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x, y, z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｝   求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幂集，即所有子集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两个平凡子集：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(2)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单元素集：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{y}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{z}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(3)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双元素集：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{x,y}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{x,z}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{y,z}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(4)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三元素集：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{x,y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z} = A,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即本身，重复，结束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｜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P(A)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｜＝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8 = C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0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+ C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1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+ ...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+ 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n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 2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n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 2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3</a:t>
            </a:r>
            <a:endParaRPr lang="en-US" altLang="zh-CN" sz="2800" b="1" baseline="300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idx="1"/>
          </p:nvPr>
        </p:nvSpPr>
        <p:spPr>
          <a:xfrm>
            <a:off x="623888" y="404813"/>
            <a:ext cx="10512425" cy="6669087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求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的幂集，即空集的幂集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两个平凡子集：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A=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P(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) = {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} = {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｜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P(A)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｜＝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n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 2</a:t>
            </a:r>
            <a:r>
              <a:rPr lang="en-US" altLang="zh-CN" sz="2800" b="1" baseline="30000" dirty="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800" b="1" baseline="30000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例：设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＝｛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a,{a}, 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｝，求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P(S)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、对于隶属关系和包含关系要明确       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证明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 ⊆ B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的充要条件是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hlinkClick r:id="rId1" action="ppaction://hlinksldjump"/>
              </a:rPr>
              <a:t>证明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hlinkClick r:id="rId1" action="ppaction://hlinksldjump"/>
              </a:rPr>
              <a:t>:</a:t>
            </a:r>
            <a:endParaRPr lang="en-US" altLang="zh-CN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xfrm>
            <a:off x="982663" y="260350"/>
            <a:ext cx="8388350" cy="6337300"/>
          </a:xfrm>
        </p:spPr>
        <p:txBody>
          <a:bodyPr vert="horz" wrap="square" lIns="0" tIns="45720" rIns="0" bIns="45720" numCol="1" rtlCol="0" anchor="t" anchorCtr="0" compatLnSpc="1">
            <a:normAutofit lnSpcReduction="10000"/>
          </a:bodyPr>
          <a:lstStyle/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练习：设：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））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判断真假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∈ 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⊆ B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lang="zh-CN" altLang="en-US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} ∈ B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｛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｝⊆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  <a:r>
              <a:rPr lang="zh-CN" altLang="en-US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∈ B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｛ 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 ｝⊆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lang="zh-CN" altLang="en-US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}  ⊆ B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｛  ｛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，｛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  }  ⊆ 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{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={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}}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}} }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371475" y="404813"/>
            <a:ext cx="11449050" cy="6310313"/>
          </a:xfrm>
        </p:spPr>
        <p:txBody>
          <a:bodyPr vert="horz" wrap="square" lIns="0" tIns="45720" rIns="0" bIns="45720" numCol="1" rtlCol="0" anchor="t" anchorCtr="0" compatLnSpc="1">
            <a:normAutofit/>
          </a:bodyPr>
          <a:lstStyle/>
          <a:p>
            <a:pPr marL="609600" marR="0" lvl="0" indent="-60960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§6.2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集合的运算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、交运算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定义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任何两个集合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，是由集合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所共有的全部元素构成的集合，并可规定成 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= {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x|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）性质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= B ∩ 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 = A∩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∩ 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A = 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表示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无公共元素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交运算的文氏图表示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idx="1"/>
          </p:nvPr>
        </p:nvSpPr>
        <p:spPr>
          <a:xfrm>
            <a:off x="515938" y="765175"/>
            <a:ext cx="11160125" cy="6264275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spcBef>
                <a:spcPts val="6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、并运算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是两个任何集合。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的并集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A∪B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，是由那些或属于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或属于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或同时属于二者的所有元素构成的集合，并可规定成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 B = { x |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x∈A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）∨（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x∈B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）性质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 B = B ∪ 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）∪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C = A ∪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∪ 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A∪A = A,   A∪</a:t>
            </a:r>
            <a:r>
              <a:rPr lang="en-US" altLang="zh-CN" sz="2800" b="1" dirty="0">
                <a:ea typeface="楷体_GB2312" pitchFamily="49" charset="-122"/>
              </a:rPr>
              <a:t>Ø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= A ,   A ∪ E = E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∩ 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）∩（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∪ 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∩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∪ 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∩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）∪（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∩ 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spcBef>
                <a:spcPts val="60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3)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并运算的文氏图表示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551498" y="548323"/>
            <a:ext cx="10225088" cy="6408738"/>
          </a:xfrm>
        </p:spPr>
        <p:txBody>
          <a:bodyPr vert="horz" wrap="square" lIns="0" tIns="45720" rIns="0" bIns="45720" numCol="1" rtlCol="0" anchor="t" anchorCtr="0" compatLnSpc="1"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证明：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）＝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证： ∀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 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⇔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⊆ A ∩ B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则 ∀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 x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 A ∩ B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⇔ ∀ a  {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⇔ ∀ 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 ∀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∈B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⇔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⊆ A ∧ x ⊆ B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）＝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∩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对于并运算也成立吗？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∪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⊆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 B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即 ∀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A(x) ∨ ∀ x B(x) ⇒ ∀x (A(x) ∨ B(x))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695325" y="309563"/>
            <a:ext cx="10298113" cy="6237288"/>
          </a:xfrm>
        </p:spPr>
        <p:txBody>
          <a:bodyPr vert="horz" wrap="square" lIns="0" tIns="45720" rIns="0" bIns="45720" numCol="1" rtlCol="0" anchor="t" anchorCtr="0" compatLnSpc="1">
            <a:normAutofit lnSpcReduction="200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、相对补集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）定义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是任何两个集合。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，是由属于集合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的但不属于集合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的所有元素构成的集合，并可规定成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= { x |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S UI Gothic" panose="020B0600070205080204" pitchFamily="34" charset="-128"/>
                <a:ea typeface="MS UI Gothic" panose="020B0600070205080204" pitchFamily="34" charset="-128"/>
                <a:cs typeface="+mn-cs"/>
              </a:rPr>
              <a:t>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 = { x |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 ┐（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）相对补集的文氏图表示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）性质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= A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A∪B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）∪（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B∪C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）∩（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f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 A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⊆ 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的等价形式：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563563" y="404813"/>
            <a:ext cx="11064875" cy="6381750"/>
          </a:xfrm>
        </p:spPr>
        <p:txBody>
          <a:bodyPr vert="horz" wrap="square" lIns="0" tIns="45720" rIns="0" bIns="45720" numCol="1" rtlCol="0" anchor="t" anchorCtr="0" compatLnSpc="1">
            <a:normAutofit lnSpcReduction="100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、补集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）定义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给定全集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。对于任何集合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来说，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的相对补集，称为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的绝对补集或简称为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的补集，并记作～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。对于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所进行的差分运算通常称为求补。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{x | 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S UI Gothic" panose="020B0600070205080204" pitchFamily="34" charset="-128"/>
                <a:ea typeface="MS UI Gothic" panose="020B0600070205080204" pitchFamily="34" charset="-128"/>
                <a:cs typeface="+mn-cs"/>
              </a:rPr>
              <a:t>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= E -A = {x|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  ┓（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   = {x |  ┓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 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）补集的文氏图：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）性质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= 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）～（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）～（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550863" y="188913"/>
            <a:ext cx="10945813" cy="5903913"/>
          </a:xfrm>
        </p:spPr>
        <p:txBody>
          <a:bodyPr vert="horz" wrap="square" lIns="0" tIns="45720" rIns="0" bIns="45720" numCol="1" rtlCol="0" anchor="t" anchorCtr="0" compatLnSpc="1">
            <a:no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、对称差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定义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是任何两个集合。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的是集合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，并可规定成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x∈A⊕B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&lt;=&gt;x∈{x|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x∈B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异或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或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⊕ B 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A- 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）∪（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- 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）对称差的文氏图表示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）性质：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6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A⊕B = B⊕A             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6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A⊕B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）⊕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 = A ⊕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B⊕C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6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A⊕B =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）∪（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∩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6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d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A⊕A = 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6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7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</a:t>
            </a:r>
            <a:r>
              <a:rPr kumimoji="0" lang="en-US" altLang="zh-CN" sz="27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= A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aphicFrame>
        <p:nvGraphicFramePr>
          <p:cNvPr id="25603" name="Object 5"/>
          <p:cNvGraphicFramePr>
            <a:graphicFrameLocks noChangeAspect="1"/>
          </p:cNvGraphicFramePr>
          <p:nvPr/>
        </p:nvGraphicFramePr>
        <p:xfrm>
          <a:off x="5221923" y="1340168"/>
          <a:ext cx="350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7800" imgH="203200" progId="Equation.DSMT4">
                  <p:embed/>
                </p:oleObj>
              </mc:Choice>
              <mc:Fallback>
                <p:oleObj name="" r:id="rId1" imgW="1778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21923" y="1340168"/>
                        <a:ext cx="350837" cy="4318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文氏图</a:t>
            </a:r>
            <a:endParaRPr kumimoji="0" lang="zh-CN" altLang="en-US" sz="4800" b="0" i="0" u="none" strike="noStrike" kern="1200" cap="none" spc="-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lang="en-US" altLang="zh-CN" sz="1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628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538" y="2241550"/>
            <a:ext cx="7445375" cy="3851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Rectangle 13"/>
          <p:cNvSpPr/>
          <p:nvPr/>
        </p:nvSpPr>
        <p:spPr>
          <a:xfrm>
            <a:off x="1919288" y="1241425"/>
            <a:ext cx="5400675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集合运算的表示</a:t>
            </a:r>
            <a:endParaRPr lang="zh-CN" altLang="en-US" sz="18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0590" name="Text Box 14"/>
          <p:cNvSpPr txBox="1"/>
          <p:nvPr/>
        </p:nvSpPr>
        <p:spPr>
          <a:xfrm>
            <a:off x="2709863" y="2559050"/>
            <a:ext cx="3381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1" name="Text Box 15"/>
          <p:cNvSpPr txBox="1"/>
          <p:nvPr/>
        </p:nvSpPr>
        <p:spPr>
          <a:xfrm>
            <a:off x="3813175" y="2559050"/>
            <a:ext cx="3381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2" name="Text Box 16"/>
          <p:cNvSpPr txBox="1"/>
          <p:nvPr/>
        </p:nvSpPr>
        <p:spPr>
          <a:xfrm>
            <a:off x="5446713" y="2486025"/>
            <a:ext cx="3381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3" name="Text Box 17"/>
          <p:cNvSpPr txBox="1"/>
          <p:nvPr/>
        </p:nvSpPr>
        <p:spPr>
          <a:xfrm>
            <a:off x="6550025" y="2486025"/>
            <a:ext cx="3381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4" name="Text Box 18"/>
          <p:cNvSpPr txBox="1"/>
          <p:nvPr/>
        </p:nvSpPr>
        <p:spPr>
          <a:xfrm>
            <a:off x="8110538" y="2486025"/>
            <a:ext cx="3381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5" name="Text Box 19"/>
          <p:cNvSpPr txBox="1"/>
          <p:nvPr/>
        </p:nvSpPr>
        <p:spPr>
          <a:xfrm>
            <a:off x="9213850" y="2486025"/>
            <a:ext cx="33813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6" name="Text Box 20"/>
          <p:cNvSpPr txBox="1"/>
          <p:nvPr/>
        </p:nvSpPr>
        <p:spPr>
          <a:xfrm>
            <a:off x="3721100" y="4862513"/>
            <a:ext cx="33813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7" name="Text Box 21"/>
          <p:cNvSpPr txBox="1"/>
          <p:nvPr/>
        </p:nvSpPr>
        <p:spPr>
          <a:xfrm>
            <a:off x="4824413" y="4862513"/>
            <a:ext cx="33813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8" name="Text Box 22"/>
          <p:cNvSpPr txBox="1"/>
          <p:nvPr/>
        </p:nvSpPr>
        <p:spPr>
          <a:xfrm>
            <a:off x="7896225" y="4678363"/>
            <a:ext cx="33813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9" name="Text Box 23"/>
          <p:cNvSpPr txBox="1"/>
          <p:nvPr/>
        </p:nvSpPr>
        <p:spPr>
          <a:xfrm>
            <a:off x="8686800" y="4221163"/>
            <a:ext cx="33813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600" name="Text Box 24"/>
          <p:cNvSpPr txBox="1"/>
          <p:nvPr/>
        </p:nvSpPr>
        <p:spPr>
          <a:xfrm>
            <a:off x="2808288" y="3608388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0601" name="Text Box 25"/>
          <p:cNvSpPr txBox="1"/>
          <p:nvPr/>
        </p:nvSpPr>
        <p:spPr>
          <a:xfrm>
            <a:off x="5665788" y="3563938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0602" name="Text Box 26"/>
          <p:cNvSpPr txBox="1"/>
          <p:nvPr/>
        </p:nvSpPr>
        <p:spPr>
          <a:xfrm>
            <a:off x="8328025" y="3525838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0603" name="Text Box 27"/>
          <p:cNvSpPr txBox="1"/>
          <p:nvPr/>
        </p:nvSpPr>
        <p:spPr>
          <a:xfrm>
            <a:off x="3865563" y="6008688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0604" name="Text Box 28"/>
          <p:cNvSpPr txBox="1"/>
          <p:nvPr/>
        </p:nvSpPr>
        <p:spPr>
          <a:xfrm>
            <a:off x="7392988" y="6081713"/>
            <a:ext cx="9144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defTabSz="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~A</a:t>
            </a:r>
            <a:endParaRPr lang="en-US" altLang="zh-CN" sz="1800" b="1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90" grpId="0"/>
      <p:bldP spid="280591" grpId="0"/>
      <p:bldP spid="280592" grpId="0"/>
      <p:bldP spid="280593" grpId="0"/>
      <p:bldP spid="280594" grpId="0"/>
      <p:bldP spid="280595" grpId="0"/>
      <p:bldP spid="280596" grpId="0"/>
      <p:bldP spid="280597" grpId="0"/>
      <p:bldP spid="280598" grpId="0"/>
      <p:bldP spid="280599" grpId="0"/>
      <p:bldP spid="280600" grpId="0"/>
      <p:bldP spid="280601" grpId="0"/>
      <p:bldP spid="280602" grpId="0"/>
      <p:bldP spid="280603" grpId="0"/>
      <p:bldP spid="28060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766763" y="501650"/>
            <a:ext cx="3743325" cy="4897438"/>
          </a:xfrm>
        </p:spPr>
        <p:txBody>
          <a:bodyPr vert="horz" wrap="square" lIns="0" tIns="45720" rIns="0" bIns="45720" numCol="1" rtlCol="0" anchor="t" anchorCtr="0" compatLnSpc="1">
            <a:normAutofit lnSpcReduction="100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例：判断真假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 ∈{x}-{{x}}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A-B=A ⇔ B=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A-B=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⇔ B=A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A⊕A=A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、如果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A={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}∪{x},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25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{x}∈A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且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{x}⊆A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48835" name="Text Box 3"/>
          <p:cNvSpPr txBox="1"/>
          <p:nvPr/>
        </p:nvSpPr>
        <p:spPr>
          <a:xfrm>
            <a:off x="5359400" y="188913"/>
            <a:ext cx="4643438" cy="557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设：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S1=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｛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,8,9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S2= { 2,4,6,8 }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S3= { 1,3,5,7,9 }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S4= { 3,4,5 }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S5= { 3,5 }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确定集合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与哪个集合相等？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、若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∩ S5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、若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A⊆S4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，但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A∩S2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、若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A⊆S1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不是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的子集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、若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、若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A⊆S3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，且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不是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的子集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4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8835">
                                            <p:txEl>
                                              <p:charRg st="4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8835">
                                            <p:txEl>
                                              <p:charRg st="4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8835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8835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8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835">
                                            <p:txEl>
                                              <p:charRg st="8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8835">
                                            <p:txEl>
                                              <p:charRg st="8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10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48835">
                                            <p:txEl>
                                              <p:charRg st="105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charRg st="11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248835">
                                            <p:txEl>
                                              <p:charRg st="119" end="1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695325" y="549275"/>
            <a:ext cx="11579860" cy="5977255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练习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 b, c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,B=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x, c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试求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 ⊕ B,  P(A)∪P(B)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P(A ⊕ B)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 ⊕ B={ a, b, x }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P(A) 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i="1" dirty="0"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b,c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P(B) 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i="1" dirty="0"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B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P(A)∪P(B) 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i="1" dirty="0"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a,c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b,c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A, B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P(A ⊕ B) 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i="1" dirty="0"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x,a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x,b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b,a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｛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x,b,a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｝ ｝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Rectangle 2"/>
          <p:cNvSpPr>
            <a:spLocks noGrp="1"/>
          </p:cNvSpPr>
          <p:nvPr>
            <p:ph idx="1"/>
          </p:nvPr>
        </p:nvSpPr>
        <p:spPr>
          <a:xfrm>
            <a:off x="1271588" y="73025"/>
            <a:ext cx="8459787" cy="3284538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三、有穷集合的计数问题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、与有限集的基数有关的公式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|A∪B |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 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| A |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| B |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|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A∩B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|  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（容斥定理）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 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|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A∩B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|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&lt;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min{ 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| A |,| B | }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1)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式可以推广到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有限个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的情况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5107" name="Rectangle 3"/>
          <p:cNvSpPr/>
          <p:nvPr/>
        </p:nvSpPr>
        <p:spPr>
          <a:xfrm>
            <a:off x="1631315" y="2925445"/>
            <a:ext cx="9665335" cy="30238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例：有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50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学生，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26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人在第一次考试中得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人在第二次考试中得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，如果有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17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人两次均未得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，问有多少学生两次均为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解：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为第一次为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的人数，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为第二次为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的人数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｜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A1 ∪ A2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｜＝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 A1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 A2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 A1∩A2 |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｜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A1 ∪ A2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｜＝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50-17 =33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| A1∩A2 | = | A1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A2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| -|A1∪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A2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|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42900" lvl="0" indent="-342900" defTabSz="457200" ea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           =  26 + 21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–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33 =14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charRg st="13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106">
                                            <p:txEl>
                                              <p:charRg st="13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106">
                                            <p:txEl>
                                              <p:charRg st="13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charRg st="2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5106">
                                            <p:txEl>
                                              <p:charRg st="2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5106">
                                            <p:txEl>
                                              <p:charRg st="2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charRg st="71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5106">
                                            <p:txEl>
                                              <p:charRg st="71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>
                                            <p:txEl>
                                              <p:charRg st="139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75106">
                                            <p:txEl>
                                              <p:charRg st="139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75107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60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75107">
                                            <p:txEl>
                                              <p:charRg st="60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9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75107">
                                            <p:txEl>
                                              <p:charRg st="91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131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75107">
                                            <p:txEl>
                                              <p:charRg st="131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157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175107">
                                            <p:txEl>
                                              <p:charRg st="157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charRg st="195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75107">
                                            <p:txEl>
                                              <p:charRg st="195" end="2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Text Box 2"/>
          <p:cNvSpPr txBox="1"/>
          <p:nvPr/>
        </p:nvSpPr>
        <p:spPr>
          <a:xfrm>
            <a:off x="550863" y="692150"/>
            <a:ext cx="11449050" cy="4546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例：求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1000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内既不能被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及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整除的数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设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＝｛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.1000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｝ 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A={x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可被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}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B={x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可被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}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 ={x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可被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}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可通过文氏图分析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分别有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200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166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125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个   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同时可被二个整除的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33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41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同时可被三个整除的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1000-200</a:t>
            </a:r>
            <a:r>
              <a:rPr 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-166-125+33+25+41-8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=600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2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6130">
                                            <p:txEl>
                                              <p:charRg st="2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6130">
                                            <p:txEl>
                                              <p:charRg st="2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4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6130">
                                            <p:txEl>
                                              <p:charRg st="45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87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76130">
                                            <p:txEl>
                                              <p:charRg st="87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10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76130">
                                            <p:txEl>
                                              <p:charRg st="100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126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76130">
                                            <p:txEl>
                                              <p:charRg st="126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16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76130">
                                            <p:txEl>
                                              <p:charRg st="166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>
                                            <p:txEl>
                                              <p:charRg st="191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76130">
                                            <p:txEl>
                                              <p:charRg st="191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2" name="Text Box 4"/>
          <p:cNvSpPr txBox="1"/>
          <p:nvPr/>
        </p:nvSpPr>
        <p:spPr>
          <a:xfrm>
            <a:off x="766763" y="692150"/>
            <a:ext cx="10514012" cy="49650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练习：有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人需要选修第二外语，已知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15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人选修日语，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人选修法语，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人选修德语，其中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人选修三门外语，至少有多少人一门也未选修第二外语？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至少有多少人一门也未选修，</a:t>
            </a:r>
            <a:endParaRPr lang="zh-CN" altLang="en-US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可以先求 至多有多少人选修第二外语，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A2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为分别选修日语法语德语的人（分别是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15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人）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|A1∩A2∩A3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|A1∩A2 | &gt;= | A1∩A2∩A3 | </a:t>
            </a:r>
            <a:endParaRPr lang="en-US" altLang="zh-CN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｜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A1 ∪A2∪A3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｜＝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|A1|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|A2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|A3|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{| A1∩A2 |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＋。。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}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| A1∩A2∩A3 |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&lt; = 15+8+6-(3+3+3)+3 =23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一门也没选的人数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&gt;= 30-23 = 7</a:t>
            </a:r>
            <a:endParaRPr lang="en-US" altLang="zh-CN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7092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6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17092">
                                            <p:txEl>
                                              <p:charRg st="6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17092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102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17092">
                                            <p:txEl>
                                              <p:charRg st="102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137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17092">
                                            <p:txEl>
                                              <p:charRg st="137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151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17092">
                                            <p:txEl>
                                              <p:charRg st="151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177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217092">
                                            <p:txEl>
                                              <p:charRg st="177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190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17092">
                                            <p:txEl>
                                              <p:charRg st="190" end="2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237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217092">
                                            <p:txEl>
                                              <p:charRg st="237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charRg st="265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17092">
                                            <p:txEl>
                                              <p:charRg st="265" end="2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550863" y="333375"/>
            <a:ext cx="10874375" cy="5903913"/>
          </a:xfrm>
        </p:spPr>
        <p:txBody>
          <a:bodyPr vert="horz" wrap="square" lIns="0" tIns="45720" rIns="0" bIns="45720" numCol="1" rtlCol="0" anchor="t" anchorCtr="0" compatLnSpc="1">
            <a:normAutofit lnSpcReduction="20000"/>
          </a:bodyPr>
          <a:lstStyle/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§6.3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集合恒等式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集合运算的恒等式与命题公式的等值式有非常类似地方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即将：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∩ 看成 ∧  、∪看成 ∨ 、 ∼ 看成 ┓   空集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Ø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看成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F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、全集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看成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T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，⊆看成⇒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那么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命题公式的等值式可表示为集合运算的恒等式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一、下面给出对照的公式：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）等幂律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A∪A=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[P∨P 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A∩A=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[P∧P 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）结合律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（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）∪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C=A∪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B∪C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[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P∨Q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）∨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R &lt;=&gt; P∨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Q∨R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）∩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C=A∩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P∧Q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R &lt;=&gt; P∧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Q∧R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）交换律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A∪B=B∪A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 [P∨Q &lt;=&gt; Q∨P]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A∩B=B∩A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 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[P∧Q &lt;=&gt; Q∧P]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）分配律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）∩（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[P∨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Q∧R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P∨Q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）∧（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P∧R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12800" marR="0" lvl="0" indent="-812800" algn="l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B∪C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）∪（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[P∧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Q∨R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P∧Q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）∨（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P∨R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idx="1"/>
          </p:nvPr>
        </p:nvSpPr>
        <p:spPr>
          <a:xfrm>
            <a:off x="983615" y="188595"/>
            <a:ext cx="10560050" cy="6227445"/>
          </a:xfrm>
        </p:spPr>
        <p:txBody>
          <a:bodyPr vert="horz" wrap="square" lIns="0" tIns="45720" rIns="0" bIns="45720" numCol="1" rtlCol="0" anchor="t" anchorCtr="0" compatLnSpc="1">
            <a:normAutofit fontScale="925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）同一律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=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	     [P∨F 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E =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[P∧T 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）零律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 E = 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[P∨T &lt;=&gt; T]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=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	      [P∧F &lt;=&gt; F]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7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）排中律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= 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	      [P∨┐P &lt;=&gt; T]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矛盾律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=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[P∧┐P &lt;=&gt; F]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8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）吸收律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A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[P∨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P∧Q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∩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A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[P∧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P∨Q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）德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·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摩根定律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 ┐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P∨Q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┐P∧┐Q 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A∪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 ┐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P∧Q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&lt;=&gt; ┐P∨┐Q 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</a:t>
            </a:r>
            <a:r>
              <a:rPr lang="zh-CN" altLang="en-US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r>
              <a:rPr lang="zh-CN" altLang="en-US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～</a:t>
            </a:r>
            <a:r>
              <a:rPr lang="en-US" altLang="zh-CN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sym typeface="+mn-ea"/>
              </a:rPr>
              <a:t>ø</a:t>
            </a:r>
            <a:r>
              <a:rPr lang="en-US" altLang="zh-CN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= E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             [ ┐F &lt;=&gt; T 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       </a:t>
            </a:r>
            <a:r>
              <a:rPr lang="zh-CN" altLang="en-US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～</a:t>
            </a:r>
            <a:r>
              <a:rPr lang="en-US" altLang="zh-CN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E = </a:t>
            </a:r>
            <a:r>
              <a:rPr lang="en-US" altLang="zh-CN" sz="2200" b="1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Dotum" pitchFamily="34" charset="-127"/>
                <a:ea typeface="楷体_GB2312" pitchFamily="49" charset="-122"/>
                <a:sym typeface="+mn-ea"/>
              </a:rPr>
              <a:t>ø</a:t>
            </a:r>
            <a:r>
              <a:rPr lang="en-US" altLang="zh-CN" sz="22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                 [ ┐T &lt;=&gt; F 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10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）双重否定律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～（～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[┐┐P &lt;=&gt; P]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 ⊆  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   A∩B ⊆  B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化简式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⊆  A∪B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  [A ⇒ A ∨ B]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附加式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idx="1"/>
          </p:nvPr>
        </p:nvSpPr>
        <p:spPr>
          <a:xfrm>
            <a:off x="766763" y="1052513"/>
            <a:ext cx="11017250" cy="5300662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二、证明方法介绍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集合部分的证明内容一般为：集合的包含关系和集合的相等关系 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即：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A⊆B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 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、常规方法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证明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A⊆B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任取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A  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利用所给的性质 ⇒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或采用谓词演算方法 ∀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x(x∈A→x∈B 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成立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978" name="Text Box 2"/>
          <p:cNvSpPr txBox="1"/>
          <p:nvPr/>
        </p:nvSpPr>
        <p:spPr>
          <a:xfrm>
            <a:off x="1200150" y="188913"/>
            <a:ext cx="9217025" cy="6223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证明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B)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C)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C)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利用谓词演算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∀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）－（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）∧ ┓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 (x ∈A∧┓x∈C)∧┓(x ∈B∧┓x∈C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     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∈A ∧┓x ∈C)∧ 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┓x ∈B ∨x∈C )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∈A ∧ ┓x ∈C ∧ ┓x ∈B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     ∨（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∈A ∧ ┓x ∈C ∧ x ∈C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∈A ∧ ┓x ∈B∧ ┓x ∈C 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）∨ 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∈A ∧ ┓x ∈B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）∧ ┓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∈C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  x ∈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）∧ ┓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∈C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⇔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 ∈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 </a:t>
            </a:r>
            <a:endParaRPr lang="en-US" altLang="zh-CN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所以等式成立</a:t>
            </a: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5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4978">
                                            <p:txEl>
                                              <p:charRg st="25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34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4978">
                                            <p:txEl>
                                              <p:charRg st="34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5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4978">
                                            <p:txEl>
                                              <p:charRg st="52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4978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109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4978">
                                            <p:txEl>
                                              <p:charRg st="109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139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4978">
                                            <p:txEl>
                                              <p:charRg st="139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163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4978">
                                            <p:txEl>
                                              <p:charRg st="163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0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54978">
                                            <p:txEl>
                                              <p:charRg st="200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27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4978">
                                            <p:txEl>
                                              <p:charRg st="227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50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54978">
                                            <p:txEl>
                                              <p:charRg st="250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69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4978">
                                            <p:txEl>
                                              <p:charRg st="269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>
                                            <p:txEl>
                                              <p:charRg st="283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54978">
                                            <p:txEl>
                                              <p:charRg st="283" end="2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30" name="Text Box 2"/>
          <p:cNvSpPr txBox="1"/>
          <p:nvPr/>
        </p:nvSpPr>
        <p:spPr>
          <a:xfrm>
            <a:off x="1127125" y="260350"/>
            <a:ext cx="9859010" cy="5908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利用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A⊆B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的等价形式  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A∪B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、   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A∩B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、   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＝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例：证明：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 ⊆ C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⊆ 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的充要条件是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B ⊆ C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证：左到右，  利用 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A∪B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zh-CN" altLang="en-US" sz="28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A∪ B</a:t>
            </a:r>
            <a:r>
              <a:rPr lang="zh-CN" altLang="en-US" sz="28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∪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C )∪B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 ∪ B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右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到左：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看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∪ 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是否是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的子集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C ⊆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C )∪ B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B )∪ C ⊆C∪ 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defTabSz="4572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B∪ C ⊆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 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∪ C )∪ A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＝（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A∪ B )∪ C ⊆C∪ C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3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1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2930">
                                            <p:txEl>
                                              <p:charRg st="18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5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2930">
                                            <p:txEl>
                                              <p:charRg st="5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8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2930">
                                            <p:txEl>
                                              <p:charRg st="85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10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2930">
                                            <p:txEl>
                                              <p:charRg st="10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13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52930">
                                            <p:txEl>
                                              <p:charRg st="138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151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52930">
                                            <p:txEl>
                                              <p:charRg st="151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172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52930">
                                            <p:txEl>
                                              <p:charRg st="172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>
                                            <p:txEl>
                                              <p:charRg st="211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52930">
                                            <p:txEl>
                                              <p:charRg st="211" end="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xfrm>
            <a:off x="1271270" y="908685"/>
            <a:ext cx="8749030" cy="4228465"/>
          </a:xfrm>
        </p:spPr>
        <p:txBody>
          <a:bodyPr vert="horz" wrap="square" lIns="0" tIns="45720" rIns="0" bIns="45720" numCol="1" rtlCol="0" anchor="t" anchorCtr="0" compatLnSpc="1">
            <a:normAutofit fontScale="60000"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4665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3.</a:t>
            </a:r>
            <a:r>
              <a:rPr kumimoji="0" lang="zh-CN" altLang="en-US" sz="4665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利用集合的运算和恒等式</a:t>
            </a:r>
            <a:endParaRPr kumimoji="0" lang="zh-CN" altLang="en-US" sz="4665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例：证明：已知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∪B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 ∪ C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且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A∩B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A∩C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则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 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利用恒等变形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B∩(B∪A)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利用吸收律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＝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B∩(A ∪ B)  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B∩(A ∪ C)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(B∩A)∪(B∩C)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(A∩C)∪(B∩C)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(A ∪ B)∩C   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(A ∪ C)∩C    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＝ 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C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53955" name="Text Box 3"/>
          <p:cNvSpPr txBox="1"/>
          <p:nvPr/>
        </p:nvSpPr>
        <p:spPr>
          <a:xfrm>
            <a:off x="1308100" y="3573463"/>
            <a:ext cx="8459788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endParaRPr lang="en-US" altLang="zh-CN" sz="24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charRg st="154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3955">
                                            <p:txEl>
                                              <p:charRg st="154" end="1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64310" y="949325"/>
            <a:ext cx="7390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练习：证明</a:t>
            </a:r>
            <a:r>
              <a:rPr lang="en-US" altLang="zh-CN" sz="2800"/>
              <a:t>A-</a:t>
            </a:r>
            <a:r>
              <a:rPr lang="zh-CN" altLang="en-US" sz="2800"/>
              <a:t>（</a:t>
            </a:r>
            <a:r>
              <a:rPr lang="en-US" altLang="zh-CN" sz="2800"/>
              <a:t>B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∪</a:t>
            </a:r>
            <a:r>
              <a:rPr lang="en-US" altLang="zh-CN" sz="2800"/>
              <a:t>C</a:t>
            </a:r>
            <a:r>
              <a:rPr lang="zh-CN" altLang="en-US" sz="2800"/>
              <a:t>）</a:t>
            </a:r>
            <a:r>
              <a:rPr lang="en-US" altLang="zh-CN" sz="2800"/>
              <a:t>=</a:t>
            </a:r>
            <a:r>
              <a:rPr lang="zh-CN" altLang="en-US" sz="2800"/>
              <a:t>（</a:t>
            </a:r>
            <a:r>
              <a:rPr lang="en-US" altLang="zh-CN" sz="2800"/>
              <a:t>A-B</a:t>
            </a:r>
            <a:r>
              <a:rPr lang="zh-CN" altLang="en-US" sz="2800"/>
              <a:t>）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∩</a:t>
            </a:r>
            <a:r>
              <a:rPr lang="zh-CN" altLang="en-US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A</a:t>
            </a:r>
            <a:r>
              <a:rPr lang="en-US" altLang="zh-CN" sz="2800"/>
              <a:t>-C</a:t>
            </a:r>
            <a:r>
              <a:rPr lang="zh-CN" altLang="en-US" sz="2800"/>
              <a:t>）</a:t>
            </a:r>
            <a:endParaRPr lang="zh-CN" altLang="en-US" sz="2800"/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/>
          <p:nvPr/>
        </p:nvSpPr>
        <p:spPr>
          <a:xfrm>
            <a:off x="2063750" y="260350"/>
            <a:ext cx="8135938" cy="1619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zh-CN" altLang="en-US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作业：习题六：</a:t>
            </a:r>
            <a:endParaRPr lang="zh-CN" altLang="en-US" sz="4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defTabSz="457200"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lang="en-US" altLang="zh-CN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 </a:t>
            </a:r>
            <a:r>
              <a:rPr lang="zh-CN" altLang="en-US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19 ,   </a:t>
            </a:r>
            <a:r>
              <a:rPr lang="zh-CN" altLang="en-US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31</a:t>
            </a:r>
            <a:r>
              <a:rPr lang="zh-CN" altLang="en-US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  </a:t>
            </a:r>
            <a:r>
              <a:rPr lang="en-US" altLang="zh-CN" sz="4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37 </a:t>
            </a:r>
            <a:endParaRPr lang="en-US" altLang="zh-CN" sz="40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1127125" y="836613"/>
            <a:ext cx="8540750" cy="5478462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传递性  若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A⊆ B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且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 ⊆ C,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则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A⊆C. 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A⊆ B ∧ B ⊆ C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 ( x∈A → x∈B ) ∧ ∀x ( x∈B → x∈C)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∀x( ( x∈A → x∈B ) ∧ ( x∈B → x ∈C) 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⇒ ∀x( x∈A → x∈C 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 A⊆C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3" name="WordArt 4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9983788" y="5445125"/>
            <a:ext cx="1439862" cy="7191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charset="0"/>
                <a:ea typeface="华文行楷" charset="0"/>
              </a:rPr>
              <a:t>返回</a:t>
            </a:r>
            <a:endParaRPr lang="zh-CN" altLang="en-US" sz="3600" b="1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行楷" charset="0"/>
              <a:ea typeface="华文行楷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1200150" y="908050"/>
            <a:ext cx="10058400" cy="4022725"/>
          </a:xfrm>
        </p:spPr>
        <p:txBody>
          <a:bodyPr vert="horz" wrap="square" lIns="0" tIns="45720" rIns="0" bIns="45720" anchor="t" anchorCtr="0"/>
          <a:p>
            <a:pPr eaLnBrk="1" hangingPunct="1"/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 &lt;=&gt;  A⊆B ∧ B⊆A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⊆ B ∧ B ⊆ 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 ( x∈A → x∈B ) ∧ ∀x ( x∈B → x∈A)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∀x( ( x∈A → x∈B ) ∧ ( x∈B → x ∈A) 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 ( x∈A </a:t>
            </a:r>
            <a:r>
              <a:rPr lang="en-US" altLang="zh-CN" sz="2800" b="1" dirty="0">
                <a:latin typeface="Dotum" pitchFamily="34" charset="-127"/>
                <a:ea typeface="Dotum" pitchFamily="34" charset="-127"/>
              </a:rPr>
              <a:t>↔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x∈B 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A =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 typeface="Calibri" panose="020F0502020204030204" pitchFamily="34" charset="0"/>
              <a:buChar char=" "/>
            </a:pPr>
            <a:endParaRPr lang="en-US" altLang="zh-CN" sz="2800" b="1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WordArt 4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10417175" y="5373688"/>
            <a:ext cx="1439863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charset="0"/>
                <a:ea typeface="华文行楷" charset="0"/>
              </a:rPr>
              <a:t>返回</a:t>
            </a:r>
            <a:endParaRPr lang="zh-CN" altLang="en-US" sz="3600" b="1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行楷" charset="0"/>
              <a:ea typeface="华文行楷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xfrm>
            <a:off x="839788" y="981075"/>
            <a:ext cx="10058400" cy="4022725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2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⊂ A ⇔  B⊆A ∧ B≠A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 ⊆ A ∧ B ≠ A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∀x(x∈B→x∈A) ∧ ∃x( x∈A ∧ ┑(x∈B) )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1" name="WordArt 5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10177463" y="5373688"/>
            <a:ext cx="1441450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charset="0"/>
                <a:ea typeface="华文行楷" charset="0"/>
              </a:rPr>
              <a:t>返回</a:t>
            </a:r>
            <a:endParaRPr lang="zh-CN" altLang="en-US" sz="3600" b="1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行楷" charset="0"/>
              <a:ea typeface="华文行楷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idx="1"/>
          </p:nvPr>
        </p:nvSpPr>
        <p:spPr>
          <a:xfrm>
            <a:off x="911225" y="620713"/>
            <a:ext cx="8893175" cy="6784975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证明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 ⊆ B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的充要条件是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证明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先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⊆ B ⇒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∀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），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⇔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⊆ A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+mn-ea"/>
              </a:rPr>
              <a:t>∧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A ⊆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⇒ x ⊆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x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），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即 ∀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⇒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⇔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idx="1"/>
          </p:nvPr>
        </p:nvSpPr>
        <p:spPr>
          <a:xfrm>
            <a:off x="982663" y="292100"/>
            <a:ext cx="8316912" cy="6092825"/>
          </a:xfrm>
        </p:spPr>
        <p:txBody>
          <a:bodyPr vert="horz" wrap="square" lIns="0" tIns="45720" rIns="0" bIns="45720" anchor="t" anchorCtr="0"/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证明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 ⊆ B 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的充要条件是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证明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再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⇒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 ⊆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∀ x ∈ A ,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{x} ⊆ A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{x}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+mn-ea"/>
              </a:rPr>
              <a:t>∧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）⊆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⇒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{x} ∈ 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⇔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{x} ⊆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  x ∈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即 ∀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A ⇒ x ∈ B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⇔  A ⊆ B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注：元素与集合间的相互转换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59" name="WordArt 3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9551988" y="5373688"/>
            <a:ext cx="1439862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charset="0"/>
                <a:ea typeface="华文行楷" charset="0"/>
              </a:rPr>
              <a:t>返回</a:t>
            </a:r>
            <a:endParaRPr lang="zh-CN" altLang="en-US" sz="3600" b="1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行楷" charset="0"/>
              <a:ea typeface="华文行楷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1004888" y="471488"/>
            <a:ext cx="8540750" cy="5765800"/>
          </a:xfrm>
        </p:spPr>
        <p:txBody>
          <a:bodyPr vert="horz" wrap="square" lIns="0" tIns="45720" rIns="0" bIns="45720" anchor="t" anchorCtr="0"/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－（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B∩C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）∪（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  谓词表示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－（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B∩C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 { x|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）∧ ┑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B∩C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⇔{ x|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）∧ ┑ 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 ∈ B ∧ x ∈ C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⇔{ x|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）∧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 ┑(x ∈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）∨ ┑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(x ∈ C ) ) 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⇔{ x| 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）∧ ┑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(x ∈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)∨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            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）∧ ┑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(x ∈ C ) ) 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⇔{ x| 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x∈( A-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)∨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 (A- C ) ) 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⇔{ x| 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x∈( A- 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) ∪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x∈ (A- C ) ) }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3" name="WordArt 4">
            <a:hlinkClick r:id="rId1" action="ppaction://hlinksldjump"/>
          </p:cNvPr>
          <p:cNvSpPr>
            <a:spLocks noTextEdit="1"/>
          </p:cNvSpPr>
          <p:nvPr/>
        </p:nvSpPr>
        <p:spPr>
          <a:xfrm>
            <a:off x="9409113" y="5445125"/>
            <a:ext cx="1439862" cy="7191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12700" cap="flat" cmpd="sng">
                  <a:solidFill>
                    <a:srgbClr val="EAEAEA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charset="0"/>
                <a:ea typeface="华文行楷" charset="0"/>
              </a:rPr>
              <a:t>返回</a:t>
            </a:r>
            <a:endParaRPr lang="zh-CN" altLang="en-US" sz="3600" b="1">
              <a:ln w="12700" cap="flat" cmpd="sng">
                <a:solidFill>
                  <a:srgbClr val="EAEAEA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>
                    <a:alpha val="79999"/>
                  </a:srgbClr>
                </a:outerShdw>
              </a:effectLst>
              <a:latin typeface="华文行楷" charset="0"/>
              <a:ea typeface="华文行楷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作业</a:t>
            </a:r>
            <a:endParaRPr kumimoji="0" lang="zh-CN" altLang="zh-CN" sz="48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0" tIns="45720" rIns="0" bIns="45720" anchor="t" anchorCtr="0"/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1 </a:t>
            </a:r>
            <a:r>
              <a:rPr lang="zh-CN" altLang="en-US" b="1" dirty="0">
                <a:ea typeface="宋体" panose="02010600030101010101" pitchFamily="2" charset="-122"/>
              </a:rPr>
              <a:t>， </a:t>
            </a:r>
            <a:r>
              <a:rPr lang="en-US" altLang="zh-CN" b="1" dirty="0">
                <a:ea typeface="宋体" panose="02010600030101010101" pitchFamily="2" charset="-122"/>
              </a:rPr>
              <a:t>5,  8</a:t>
            </a:r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tags/tag1.xml><?xml version="1.0" encoding="utf-8"?>
<p:tagLst xmlns:p="http://schemas.openxmlformats.org/presentationml/2006/main">
  <p:tag name="COMMONDATA" val="eyJoZGlkIjoiNTUzMjc3YTU0OTFiNjBmMWUxMzc5ZWY0YjQzNTNlZWMifQ=="/>
  <p:tag name="KSO_WPP_MARK_KEY" val="fd5547b5-bc8a-4a1f-9851-ab25a309a470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8601</Words>
  <Application>WPS 演示</Application>
  <PresentationFormat>宽屏</PresentationFormat>
  <Paragraphs>447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9" baseType="lpstr">
      <vt:lpstr>Arial</vt:lpstr>
      <vt:lpstr>宋体</vt:lpstr>
      <vt:lpstr>Wingdings</vt:lpstr>
      <vt:lpstr>Calibri</vt:lpstr>
      <vt:lpstr>Calibri Light</vt:lpstr>
      <vt:lpstr>楷体_GB2312</vt:lpstr>
      <vt:lpstr>新宋体</vt:lpstr>
      <vt:lpstr>微软雅黑</vt:lpstr>
      <vt:lpstr>Arial Unicode MS</vt:lpstr>
      <vt:lpstr>MS UI Gothic</vt:lpstr>
      <vt:lpstr>Dotum</vt:lpstr>
      <vt:lpstr>Times New Roman</vt:lpstr>
      <vt:lpstr>Symbol</vt:lpstr>
      <vt:lpstr>华文中宋</vt:lpstr>
      <vt:lpstr>Verdana</vt:lpstr>
      <vt:lpstr>Wingdings 2</vt:lpstr>
      <vt:lpstr>Wingdings</vt:lpstr>
      <vt:lpstr>华文行楷</vt:lpstr>
      <vt:lpstr>Malgun Gothic</vt:lpstr>
      <vt:lpstr>回顾</vt:lpstr>
      <vt:lpstr>Equation.DSMT4</vt:lpstr>
      <vt:lpstr>第六章  集合代数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文氏图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xxxy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xk</dc:creator>
  <cp:lastModifiedBy>王瑞</cp:lastModifiedBy>
  <cp:revision>257</cp:revision>
  <dcterms:created xsi:type="dcterms:W3CDTF">2006-02-08T08:39:00Z</dcterms:created>
  <dcterms:modified xsi:type="dcterms:W3CDTF">2023-05-15T14:58:44Z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E2D2C128EABA47EB88A7B9450E762FDA</vt:lpwstr>
  </property>
  <property fmtid="{D5CDD505-2E9C-101B-9397-08002B2CF9AE}" pid="3" name="KSOProductBuildVer">
    <vt:lpwstr>2052-11.1.0.14309</vt:lpwstr>
  </property>
</Properties>
</file>